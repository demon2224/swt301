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8"/>
  </p:notesMasterIdLst>
  <p:sldIdLst>
    <p:sldId id="300" r:id="rId2"/>
    <p:sldId id="301" r:id="rId3"/>
    <p:sldId id="302" r:id="rId4"/>
    <p:sldId id="303" r:id="rId5"/>
    <p:sldId id="304" r:id="rId6"/>
    <p:sldId id="305" r:id="rId7"/>
    <p:sldId id="306" r:id="rId8"/>
    <p:sldId id="307" r:id="rId9"/>
    <p:sldId id="308" r:id="rId10"/>
    <p:sldId id="309" r:id="rId11"/>
    <p:sldId id="310" r:id="rId12"/>
    <p:sldId id="311" r:id="rId13"/>
    <p:sldId id="312" r:id="rId14"/>
    <p:sldId id="313" r:id="rId15"/>
    <p:sldId id="314" r:id="rId16"/>
    <p:sldId id="315" r:id="rId17"/>
    <p:sldId id="316" r:id="rId18"/>
    <p:sldId id="317" r:id="rId19"/>
    <p:sldId id="318" r:id="rId20"/>
    <p:sldId id="319" r:id="rId21"/>
    <p:sldId id="320" r:id="rId22"/>
    <p:sldId id="321" r:id="rId23"/>
    <p:sldId id="322" r:id="rId24"/>
    <p:sldId id="323" r:id="rId25"/>
    <p:sldId id="324" r:id="rId26"/>
    <p:sldId id="325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7" autoAdjust="0"/>
    <p:restoredTop sz="76529" autoAdjust="0"/>
  </p:normalViewPr>
  <p:slideViewPr>
    <p:cSldViewPr snapToGrid="0">
      <p:cViewPr varScale="1">
        <p:scale>
          <a:sx n="77" d="100"/>
          <a:sy n="77" d="100"/>
        </p:scale>
        <p:origin x="102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E1F6BF-2548-4FD6-B512-A7630070E332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71C56B-6A32-488A-9AAA-D84F3E36F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95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71C56B-6A32-488A-9AAA-D84F3E36F6A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1875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71C56B-6A32-488A-9AAA-D84F3E36F6A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2477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71C56B-6A32-488A-9AAA-D84F3E36F6A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663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71C56B-6A32-488A-9AAA-D84F3E36F6A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2157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71C56B-6A32-488A-9AAA-D84F3E36F6A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6196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71C56B-6A32-488A-9AAA-D84F3E36F6A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0766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71C56B-6A32-488A-9AAA-D84F3E36F6A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7484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71C56B-6A32-488A-9AAA-D84F3E36F6A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0906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71C56B-6A32-488A-9AAA-D84F3E36F6A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8391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71C56B-6A32-488A-9AAA-D84F3E36F6A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0525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71C56B-6A32-488A-9AAA-D84F3E36F6A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7396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71C56B-6A32-488A-9AAA-D84F3E36F6A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8342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71C56B-6A32-488A-9AAA-D84F3E36F6A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0482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71C56B-6A32-488A-9AAA-D84F3E36F6A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9212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71C56B-6A32-488A-9AAA-D84F3E36F6A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1043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71C56B-6A32-488A-9AAA-D84F3E36F6A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4397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71C56B-6A32-488A-9AAA-D84F3E36F6A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9606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71C56B-6A32-488A-9AAA-D84F3E36F6A6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3899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5F2DC-8A8E-4344-9628-C9B696DF965F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0A57E-F2F8-4C62-AEF9-F1F94BF69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624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5F2DC-8A8E-4344-9628-C9B696DF965F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0A57E-F2F8-4C62-AEF9-F1F94BF69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9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5F2DC-8A8E-4344-9628-C9B696DF965F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0A57E-F2F8-4C62-AEF9-F1F94BF69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216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5F2DC-8A8E-4344-9628-C9B696DF965F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0A57E-F2F8-4C62-AEF9-F1F94BF69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04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5F2DC-8A8E-4344-9628-C9B696DF965F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0A57E-F2F8-4C62-AEF9-F1F94BF69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084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5F2DC-8A8E-4344-9628-C9B696DF965F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0A57E-F2F8-4C62-AEF9-F1F94BF69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612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5F2DC-8A8E-4344-9628-C9B696DF965F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0A57E-F2F8-4C62-AEF9-F1F94BF69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321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5F2DC-8A8E-4344-9628-C9B696DF965F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0A57E-F2F8-4C62-AEF9-F1F94BF69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84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5F2DC-8A8E-4344-9628-C9B696DF965F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0A57E-F2F8-4C62-AEF9-F1F94BF69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665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5F2DC-8A8E-4344-9628-C9B696DF965F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0A57E-F2F8-4C62-AEF9-F1F94BF69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306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5F2DC-8A8E-4344-9628-C9B696DF965F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0A57E-F2F8-4C62-AEF9-F1F94BF69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748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75F2DC-8A8E-4344-9628-C9B696DF965F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30A57E-F2F8-4C62-AEF9-F1F94BF69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774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Picture 2" descr="Poor Specifications &#10; A major reason for project failure &#10; They result from users’ lack of &#10;insight into their true need...">
            <a:extLst>
              <a:ext uri="{FF2B5EF4-FFF2-40B4-BE49-F238E27FC236}">
                <a16:creationId xmlns:a16="http://schemas.microsoft.com/office/drawing/2014/main" id="{87AA2EAF-4B1C-4785-985A-AB7BF5287A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13410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730" name="Picture 2" descr="Power of 3 is Achieved by &#10;In Sequential Development &#10; By formal reviews &#10; After requirements are written &#10;In Agile Deve...">
            <a:extLst>
              <a:ext uri="{FF2B5EF4-FFF2-40B4-BE49-F238E27FC236}">
                <a16:creationId xmlns:a16="http://schemas.microsoft.com/office/drawing/2014/main" id="{6A49A3D1-D9EE-4A71-8143-DD9138ECD9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75364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2863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6" name="Picture 2" descr="User Stories &#10; Document minimal requirements &#10; Functional &amp; non-functional &#10; Should include acceptance &#10;criteria define...">
            <a:extLst>
              <a:ext uri="{FF2B5EF4-FFF2-40B4-BE49-F238E27FC236}">
                <a16:creationId xmlns:a16="http://schemas.microsoft.com/office/drawing/2014/main" id="{3A24077D-90DD-40C9-BFF7-A239503E96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1418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82" name="Picture 2" descr="Testers Improve User Stories &#10; Identifying missing details or non-functional requirements &#10; Asking business representati...">
            <a:extLst>
              <a:ext uri="{FF2B5EF4-FFF2-40B4-BE49-F238E27FC236}">
                <a16:creationId xmlns:a16="http://schemas.microsoft.com/office/drawing/2014/main" id="{425156E1-B516-4FFE-BD9E-B95A8F7DFA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2431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58" name="Picture 2" descr="INVEST &#10; Created by Bill Wake as a reminder of the characteristics of a good quality &#10;user story. &#10;ISTQB CTFL Agile Teste...">
            <a:extLst>
              <a:ext uri="{FF2B5EF4-FFF2-40B4-BE49-F238E27FC236}">
                <a16:creationId xmlns:a16="http://schemas.microsoft.com/office/drawing/2014/main" id="{B43B4AEC-21C4-4F04-8C8F-588B2269A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8482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34" name="Picture 2" descr="Retrospective &#10; A meeting held at the end of each &#10;iteration/increment &#10; To discuss: &#10; What went well? &#10; What can be i...">
            <a:extLst>
              <a:ext uri="{FF2B5EF4-FFF2-40B4-BE49-F238E27FC236}">
                <a16:creationId xmlns:a16="http://schemas.microsoft.com/office/drawing/2014/main" id="{B9163B71-240E-474B-AC80-526C5AEEA2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50205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10" name="Picture 2" descr="Too Many to Improve &#10; Retrospectives can improve test effectiveness, test efficiency, test cases &#10;quality and team satisf...">
            <a:extLst>
              <a:ext uri="{FF2B5EF4-FFF2-40B4-BE49-F238E27FC236}">
                <a16:creationId xmlns:a16="http://schemas.microsoft.com/office/drawing/2014/main" id="{40B7992D-AE9A-4297-A86A-29ACE8F642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7093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586" name="Picture 2" descr="Retrospective Organization &#10; Agile method dependent &#10; Attended by team (testers are part of team) + business representat...">
            <a:extLst>
              <a:ext uri="{FF2B5EF4-FFF2-40B4-BE49-F238E27FC236}">
                <a16:creationId xmlns:a16="http://schemas.microsoft.com/office/drawing/2014/main" id="{0709706A-B4AF-4073-B0A0-346D947D43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6291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62" name="Picture 2" descr="Retrospective KSF’s &#10; All participants can provide input on any activity &#10; An agreement must be done when anything can b...">
            <a:extLst>
              <a:ext uri="{FF2B5EF4-FFF2-40B4-BE49-F238E27FC236}">
                <a16:creationId xmlns:a16="http://schemas.microsoft.com/office/drawing/2014/main" id="{B626B095-26BA-4829-8781-28D571674A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40019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8" name="Picture 2" descr="Need for Continuous Integration (CI) &#10; Delivery of a product increment requires reliable, working, integrated SW &#10;at the ...">
            <a:extLst>
              <a:ext uri="{FF2B5EF4-FFF2-40B4-BE49-F238E27FC236}">
                <a16:creationId xmlns:a16="http://schemas.microsoft.com/office/drawing/2014/main" id="{78818BE4-CD06-45F8-8FCB-795C9B734D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98979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14" name="Picture 2" descr="CI Activities (Automated and Daily) &#10;Static Code Analysis &#10;Compile &#10;Unit Test &#10;Deploy &#10;Integrate Test &#10;Report &#10;ISTQB CTFL ...">
            <a:extLst>
              <a:ext uri="{FF2B5EF4-FFF2-40B4-BE49-F238E27FC236}">
                <a16:creationId xmlns:a16="http://schemas.microsoft.com/office/drawing/2014/main" id="{FFA503EB-C032-4E33-87BD-0D5A5D73C7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69193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90" name="Picture 2" descr="Good CI &#10; Allows Agile testers to run automated tests regularly to send quicker &#10;feedback about code quality to team &#10; V...">
            <a:extLst>
              <a:ext uri="{FF2B5EF4-FFF2-40B4-BE49-F238E27FC236}">
                <a16:creationId xmlns:a16="http://schemas.microsoft.com/office/drawing/2014/main" id="{D7D7CF07-0717-467F-94F8-BEDB151EFF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38241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6" name="Picture 2" descr="CI Needs Build Tools &#10; To run unit and integration tests &#10; To run additional static and dynamic tests &#10; To measure and ...">
            <a:extLst>
              <a:ext uri="{FF2B5EF4-FFF2-40B4-BE49-F238E27FC236}">
                <a16:creationId xmlns:a16="http://schemas.microsoft.com/office/drawing/2014/main" id="{8266E5D3-7D85-4C80-AD77-794B2DA23A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45784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42" name="Picture 2" descr="CI Needs Build Tools cont’d &#10; Can be linked to automatic &#10;deployment tools (can fetch build &#10;from CI/build server and dep...">
            <a:extLst>
              <a:ext uri="{FF2B5EF4-FFF2-40B4-BE49-F238E27FC236}">
                <a16:creationId xmlns:a16="http://schemas.microsoft.com/office/drawing/2014/main" id="{17E13330-3F27-440B-B86C-D8930425CD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89125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18" name="Picture 2" descr="CI Benefits &#10; Earlier detection and easier RCA of integration problems and conflicting &#10;changes &#10; Regular and quick feed...">
            <a:extLst>
              <a:ext uri="{FF2B5EF4-FFF2-40B4-BE49-F238E27FC236}">
                <a16:creationId xmlns:a16="http://schemas.microsoft.com/office/drawing/2014/main" id="{3A81DE4B-CE41-4D67-B1CC-ABF7DEDEA0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58618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94" name="Picture 2" descr="CI Risks and Challenges &#10; CI tools have to be introduced and maintained. &#10; CI process must be defined and established. &#10;...">
            <a:extLst>
              <a:ext uri="{FF2B5EF4-FFF2-40B4-BE49-F238E27FC236}">
                <a16:creationId xmlns:a16="http://schemas.microsoft.com/office/drawing/2014/main" id="{67D9DFAD-789D-4459-BFBB-7E1DDA4A8C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52122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70" name="Picture 2" descr="CI Tools &#10; Testing tools, build automation tools and version control tools &#10;ISTQB CTFL Agile Tester 65 November 17, 2014 &#10; ">
            <a:extLst>
              <a:ext uri="{FF2B5EF4-FFF2-40B4-BE49-F238E27FC236}">
                <a16:creationId xmlns:a16="http://schemas.microsoft.com/office/drawing/2014/main" id="{8721211E-C95C-4006-A71D-A4531E0927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54781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6" name="Picture 2" descr="Agile Planning &#10; Planning in ongoing &#10; In Agile lifecycles, there are 2 types of planning: &#10; Release planning &#10; Iterat...">
            <a:extLst>
              <a:ext uri="{FF2B5EF4-FFF2-40B4-BE49-F238E27FC236}">
                <a16:creationId xmlns:a16="http://schemas.microsoft.com/office/drawing/2014/main" id="{F0723F06-7845-46C9-85E9-9014225290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35677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22" name="Picture 2" descr="Release Planning &#10; Looks ahead to the release of a product &#10; Often a few months ahead of the start of a project &#10; Defin...">
            <a:extLst>
              <a:ext uri="{FF2B5EF4-FFF2-40B4-BE49-F238E27FC236}">
                <a16:creationId xmlns:a16="http://schemas.microsoft.com/office/drawing/2014/main" id="{675AEFA5-4252-462F-B53B-898FC96761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24226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8" name="Picture 2" descr="Testers in Release Planning &#10; Defining testable user stories, including acceptance criteria &#10; Participating in project a...">
            <a:extLst>
              <a:ext uri="{FF2B5EF4-FFF2-40B4-BE49-F238E27FC236}">
                <a16:creationId xmlns:a16="http://schemas.microsoft.com/office/drawing/2014/main" id="{B0EA6626-FE4A-4499-9297-7942401F52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45527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4" name="Picture 2" descr="Iteration Planning &#10; After release planning for iteration 1 &#10; Looks ahead to an iteration end and concerned with iterati...">
            <a:extLst>
              <a:ext uri="{FF2B5EF4-FFF2-40B4-BE49-F238E27FC236}">
                <a16:creationId xmlns:a16="http://schemas.microsoft.com/office/drawing/2014/main" id="{B4C8FD8D-A660-4815-89EB-85BBAB4004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81562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Picture 2" descr="Testers in Iteration Planning &#10; Participating in the detailed risk analysis of user stories &#10; Determining the testabilit...">
            <a:extLst>
              <a:ext uri="{FF2B5EF4-FFF2-40B4-BE49-F238E27FC236}">
                <a16:creationId xmlns:a16="http://schemas.microsoft.com/office/drawing/2014/main" id="{17102813-9724-47E0-8532-0C29480979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54400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6" name="Picture 2" descr="Release and Iteration Planning &#10;Address Test Planning &#10; Testing scope (extent of testing and test goals) &#10; The team memb...">
            <a:extLst>
              <a:ext uri="{FF2B5EF4-FFF2-40B4-BE49-F238E27FC236}">
                <a16:creationId xmlns:a16="http://schemas.microsoft.com/office/drawing/2014/main" id="{D8BC9962-53C4-4AF1-B2A7-EA7C3C3D82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98598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2" name="Picture 2" descr="Re-Planning Releases and Iterations &#10; Releases and iterations may change (adaptability). &#10; Release re-planning changes d...">
            <a:extLst>
              <a:ext uri="{FF2B5EF4-FFF2-40B4-BE49-F238E27FC236}">
                <a16:creationId xmlns:a16="http://schemas.microsoft.com/office/drawing/2014/main" id="{0EC58C8B-91EB-424E-8345-062DFF54AC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88687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2" descr="Re-Planning Challenges Testers &#10; Understanding the big picture of a release for test planning purposes &#10; Having adequate...">
            <a:extLst>
              <a:ext uri="{FF2B5EF4-FFF2-40B4-BE49-F238E27FC236}">
                <a16:creationId xmlns:a16="http://schemas.microsoft.com/office/drawing/2014/main" id="{761EE866-A39D-49F3-B8D7-8B54BE9D7D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48926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4" name="Picture 2" descr="Summary &#10; The Fundamentals of Agile Software Development &#10; Aspects of Agile Approaches &#10;ISTQB CTFL Agile Tester 74 Novem...">
            <a:extLst>
              <a:ext uri="{FF2B5EF4-FFF2-40B4-BE49-F238E27FC236}">
                <a16:creationId xmlns:a16="http://schemas.microsoft.com/office/drawing/2014/main" id="{F5015988-4DEE-48CC-AD8E-C24F9B2217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00314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1367</TotalTime>
  <Words>18</Words>
  <Application>Microsoft Office PowerPoint</Application>
  <PresentationFormat>On-screen Show (4:3)</PresentationFormat>
  <Paragraphs>18</Paragraphs>
  <Slides>26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Pham Duc Thang (FE FPTU HN)</dc:creator>
  <cp:lastModifiedBy>Tuấn Lê</cp:lastModifiedBy>
  <cp:revision>46</cp:revision>
  <dcterms:created xsi:type="dcterms:W3CDTF">2021-03-17T14:27:09Z</dcterms:created>
  <dcterms:modified xsi:type="dcterms:W3CDTF">2025-10-29T08:53:01Z</dcterms:modified>
</cp:coreProperties>
</file>